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6" r:id="rId9"/>
    <p:sldId id="267" r:id="rId10"/>
  </p:sldIdLst>
  <p:sldSz cx="18288000" cy="10287000"/>
  <p:notesSz cx="6858000" cy="9144000"/>
  <p:embeddedFontLst>
    <p:embeddedFont>
      <p:font typeface="Anantason UltraExpanded" panose="020B0604020202020204" charset="-34"/>
      <p:regular r:id="rId11"/>
    </p:embeddedFont>
    <p:embeddedFont>
      <p:font typeface="Anantason UltraExpanded Bold" panose="020B0604020202020204" charset="-34"/>
      <p:regular r:id="rId12"/>
    </p:embeddedFont>
    <p:embeddedFont>
      <p:font typeface="Codec Pro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143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11.svg"/><Relationship Id="rId9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47035" y="-3047188"/>
            <a:ext cx="16737065" cy="15342310"/>
          </a:xfrm>
          <a:custGeom>
            <a:avLst/>
            <a:gdLst/>
            <a:ahLst/>
            <a:cxnLst/>
            <a:rect l="l" t="t" r="r" b="b"/>
            <a:pathLst>
              <a:path w="16737065" h="15342310">
                <a:moveTo>
                  <a:pt x="0" y="0"/>
                </a:moveTo>
                <a:lnTo>
                  <a:pt x="16737066" y="0"/>
                </a:lnTo>
                <a:lnTo>
                  <a:pt x="16737066" y="15342310"/>
                </a:lnTo>
                <a:lnTo>
                  <a:pt x="0" y="15342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-3180559" y="-7196006"/>
            <a:ext cx="16355952" cy="16022018"/>
          </a:xfrm>
          <a:custGeom>
            <a:avLst/>
            <a:gdLst/>
            <a:ahLst/>
            <a:cxnLst/>
            <a:rect l="l" t="t" r="r" b="b"/>
            <a:pathLst>
              <a:path w="16355952" h="16022018">
                <a:moveTo>
                  <a:pt x="0" y="0"/>
                </a:moveTo>
                <a:lnTo>
                  <a:pt x="16355952" y="0"/>
                </a:lnTo>
                <a:lnTo>
                  <a:pt x="16355952" y="16022018"/>
                </a:lnTo>
                <a:lnTo>
                  <a:pt x="0" y="16022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5943600" y="38100"/>
            <a:ext cx="18003772" cy="15355717"/>
          </a:xfrm>
          <a:custGeom>
            <a:avLst/>
            <a:gdLst/>
            <a:ahLst/>
            <a:cxnLst/>
            <a:rect l="l" t="t" r="r" b="b"/>
            <a:pathLst>
              <a:path w="18003772" h="15355717">
                <a:moveTo>
                  <a:pt x="0" y="0"/>
                </a:moveTo>
                <a:lnTo>
                  <a:pt x="18003773" y="0"/>
                </a:lnTo>
                <a:lnTo>
                  <a:pt x="18003773" y="15355718"/>
                </a:lnTo>
                <a:lnTo>
                  <a:pt x="0" y="15355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-1928960" y="8962233"/>
            <a:ext cx="11941308" cy="3283860"/>
          </a:xfrm>
          <a:custGeom>
            <a:avLst/>
            <a:gdLst/>
            <a:ahLst/>
            <a:cxnLst/>
            <a:rect l="l" t="t" r="r" b="b"/>
            <a:pathLst>
              <a:path w="11941308" h="3283860">
                <a:moveTo>
                  <a:pt x="0" y="0"/>
                </a:moveTo>
                <a:lnTo>
                  <a:pt x="11941307" y="0"/>
                </a:lnTo>
                <a:lnTo>
                  <a:pt x="11941307" y="3283859"/>
                </a:lnTo>
                <a:lnTo>
                  <a:pt x="0" y="32838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Box 13"/>
          <p:cNvSpPr txBox="1"/>
          <p:nvPr/>
        </p:nvSpPr>
        <p:spPr>
          <a:xfrm>
            <a:off x="1028700" y="3014662"/>
            <a:ext cx="15215888" cy="5745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2"/>
              </a:lnSpc>
              <a:spcBef>
                <a:spcPct val="0"/>
              </a:spcBef>
            </a:pPr>
            <a:r>
              <a:rPr lang="en-US" sz="9335" b="1" dirty="0">
                <a:solidFill>
                  <a:srgbClr val="78FF8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HOMEWORK 2 </a:t>
            </a:r>
            <a:r>
              <a:rPr lang="en-US" sz="9335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CLASSIFICATORI</a:t>
            </a:r>
          </a:p>
          <a:p>
            <a:pPr>
              <a:lnSpc>
                <a:spcPts val="11202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78FF8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Tomarchio Giuseppe</a:t>
            </a:r>
          </a:p>
          <a:p>
            <a:pPr marL="0" lvl="0" indent="0" algn="l">
              <a:lnSpc>
                <a:spcPts val="11202"/>
              </a:lnSpc>
              <a:spcBef>
                <a:spcPct val="0"/>
              </a:spcBef>
            </a:pPr>
            <a:endParaRPr lang="en-US" sz="9335" b="1" u="none" strike="noStrike" dirty="0">
              <a:solidFill>
                <a:srgbClr val="78FF87"/>
              </a:solidFill>
              <a:latin typeface="Anantason UltraExpanded Bold"/>
              <a:ea typeface="Anantason UltraExpanded Bold"/>
              <a:cs typeface="Anantason UltraExpanded Bold"/>
              <a:sym typeface="Anantason UltraExpanded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180559" y="-7196006"/>
            <a:ext cx="16355952" cy="16022018"/>
          </a:xfrm>
          <a:custGeom>
            <a:avLst/>
            <a:gdLst/>
            <a:ahLst/>
            <a:cxnLst/>
            <a:rect l="l" t="t" r="r" b="b"/>
            <a:pathLst>
              <a:path w="16355952" h="16022018">
                <a:moveTo>
                  <a:pt x="0" y="0"/>
                </a:moveTo>
                <a:lnTo>
                  <a:pt x="16355952" y="0"/>
                </a:lnTo>
                <a:lnTo>
                  <a:pt x="16355952" y="16022018"/>
                </a:lnTo>
                <a:lnTo>
                  <a:pt x="0" y="1602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 dirty="0"/>
          </a:p>
        </p:txBody>
      </p:sp>
      <p:sp>
        <p:nvSpPr>
          <p:cNvPr id="3" name="Freeform 3"/>
          <p:cNvSpPr/>
          <p:nvPr/>
        </p:nvSpPr>
        <p:spPr>
          <a:xfrm>
            <a:off x="6599177" y="7333826"/>
            <a:ext cx="14336955" cy="6055724"/>
          </a:xfrm>
          <a:custGeom>
            <a:avLst/>
            <a:gdLst/>
            <a:ahLst/>
            <a:cxnLst/>
            <a:rect l="l" t="t" r="r" b="b"/>
            <a:pathLst>
              <a:path w="14336955" h="6055724">
                <a:moveTo>
                  <a:pt x="0" y="0"/>
                </a:moveTo>
                <a:lnTo>
                  <a:pt x="14336955" y="0"/>
                </a:lnTo>
                <a:lnTo>
                  <a:pt x="14336955" y="6055724"/>
                </a:lnTo>
                <a:lnTo>
                  <a:pt x="0" y="60557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028700" y="998686"/>
            <a:ext cx="10096500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000" b="1" dirty="0" err="1">
                <a:solidFill>
                  <a:srgbClr val="78FF8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Descrizione</a:t>
            </a:r>
            <a:r>
              <a:rPr lang="en-US" sz="5000" b="1" dirty="0">
                <a:solidFill>
                  <a:srgbClr val="78FF8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del dataset:</a:t>
            </a:r>
            <a:endParaRPr lang="en-US" sz="5000" b="1" u="none" strike="noStrike" dirty="0">
              <a:solidFill>
                <a:srgbClr val="78FF87"/>
              </a:solidFill>
              <a:latin typeface="Anantason UltraExpanded Bold"/>
              <a:ea typeface="Anantason UltraExpanded Bold"/>
              <a:cs typeface="Anantason UltraExpanded Bold"/>
              <a:sym typeface="Anantason UltraExpanded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19199" y="2579426"/>
            <a:ext cx="6858001" cy="6336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it-IT" sz="28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Il dataset usato è CIFAR10: contiene 60,000 immagini (50,000 di training e 10,000 di test) divise in 10 classi, risoluzione 32x32 pixel, a colori(RGB).</a:t>
            </a:r>
          </a:p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it-IT" sz="28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Il dataset è diviso in cinque batch di </a:t>
            </a:r>
            <a:r>
              <a:rPr lang="it-IT" sz="28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train</a:t>
            </a:r>
            <a:r>
              <a:rPr lang="it-IT" sz="28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ed una di test, ognuna contenente 10000 immagini. Quella di test comprende 1000 immagini per ogni classe scelte casualmente, quelle di </a:t>
            </a:r>
            <a:r>
              <a:rPr lang="it-IT" sz="28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train</a:t>
            </a:r>
            <a:r>
              <a:rPr lang="it-IT" sz="28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presentano le restanti immagini non ordinate (alcune batch potrebbero contenere più immagini di una classe rispetto ad un’altra).</a:t>
            </a:r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6978E371-1492-CAF0-541D-C25A14EFD6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732" y="2095500"/>
            <a:ext cx="6354950" cy="49023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14F4BE37-401E-E3BE-AE95-FBFAE6BCB342}"/>
              </a:ext>
            </a:extLst>
          </p:cNvPr>
          <p:cNvSpPr txBox="1"/>
          <p:nvPr/>
        </p:nvSpPr>
        <p:spPr>
          <a:xfrm rot="1248250" flipH="1">
            <a:off x="9530027" y="1966036"/>
            <a:ext cx="124120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6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8CCED839-F736-AEB1-7D3C-596858874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7600" y="5933870"/>
            <a:ext cx="2530059" cy="21033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57325" y="-2672728"/>
            <a:ext cx="16355952" cy="16022018"/>
          </a:xfrm>
          <a:custGeom>
            <a:avLst/>
            <a:gdLst/>
            <a:ahLst/>
            <a:cxnLst/>
            <a:rect l="l" t="t" r="r" b="b"/>
            <a:pathLst>
              <a:path w="16355952" h="16022018">
                <a:moveTo>
                  <a:pt x="0" y="0"/>
                </a:moveTo>
                <a:lnTo>
                  <a:pt x="16355952" y="0"/>
                </a:lnTo>
                <a:lnTo>
                  <a:pt x="16355952" y="16022017"/>
                </a:lnTo>
                <a:lnTo>
                  <a:pt x="0" y="1602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3048000" y="6965390"/>
            <a:ext cx="13025716" cy="5398331"/>
          </a:xfrm>
          <a:custGeom>
            <a:avLst/>
            <a:gdLst/>
            <a:ahLst/>
            <a:cxnLst/>
            <a:rect l="l" t="t" r="r" b="b"/>
            <a:pathLst>
              <a:path w="11417781" h="4925864">
                <a:moveTo>
                  <a:pt x="0" y="0"/>
                </a:moveTo>
                <a:lnTo>
                  <a:pt x="11417781" y="0"/>
                </a:lnTo>
                <a:lnTo>
                  <a:pt x="11417781" y="4925865"/>
                </a:lnTo>
                <a:lnTo>
                  <a:pt x="0" y="49258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3200142" y="723900"/>
            <a:ext cx="7594356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1999"/>
              </a:lnSpc>
              <a:spcBef>
                <a:spcPct val="0"/>
              </a:spcBef>
            </a:pPr>
            <a:r>
              <a:rPr lang="en-US" sz="7200" b="1" u="none" strike="noStrike" dirty="0" err="1">
                <a:solidFill>
                  <a:srgbClr val="78FF8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Obiettivi</a:t>
            </a:r>
            <a:r>
              <a:rPr lang="en-US" sz="7200" b="1" u="none" strike="noStrike" dirty="0">
                <a:solidFill>
                  <a:srgbClr val="78FF8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00142" y="3500737"/>
            <a:ext cx="11887200" cy="2858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FFFFFF"/>
                </a:solidFill>
                <a:latin typeface="Anantason UltraExpanded"/>
                <a:ea typeface="Anantason UltraExpanded"/>
                <a:cs typeface="Anantason UltraExpanded"/>
                <a:sym typeface="Anantason UltraExpanded"/>
              </a:rPr>
              <a:t>I </a:t>
            </a:r>
            <a:r>
              <a:rPr lang="en-US" sz="2800" b="1" dirty="0" err="1">
                <a:solidFill>
                  <a:srgbClr val="FFFFFF"/>
                </a:solidFill>
                <a:latin typeface="Anantason UltraExpanded"/>
                <a:ea typeface="Anantason UltraExpanded"/>
                <a:cs typeface="Anantason UltraExpanded"/>
                <a:sym typeface="Anantason UltraExpanded"/>
              </a:rPr>
              <a:t>requisiti</a:t>
            </a:r>
            <a:r>
              <a:rPr lang="en-US" sz="2800" b="1" dirty="0">
                <a:solidFill>
                  <a:srgbClr val="FFFFFF"/>
                </a:solidFill>
                <a:latin typeface="Anantason UltraExpanded"/>
                <a:ea typeface="Anantason UltraExpanded"/>
                <a:cs typeface="Anantason UltraExpanded"/>
                <a:sym typeface="Anantason UltraExpande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nantason UltraExpanded"/>
                <a:ea typeface="Anantason UltraExpanded"/>
                <a:cs typeface="Anantason UltraExpanded"/>
                <a:sym typeface="Anantason UltraExpanded"/>
              </a:rPr>
              <a:t>dell’homework</a:t>
            </a:r>
            <a:r>
              <a:rPr lang="en-US" sz="2800" b="1" dirty="0">
                <a:solidFill>
                  <a:srgbClr val="FFFFFF"/>
                </a:solidFill>
                <a:latin typeface="Anantason UltraExpanded"/>
                <a:ea typeface="Anantason UltraExpanded"/>
                <a:cs typeface="Anantason UltraExpanded"/>
                <a:sym typeface="Anantason UltraExpanded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nantason UltraExpanded"/>
                <a:ea typeface="Anantason UltraExpanded"/>
                <a:cs typeface="Anantason UltraExpanded"/>
                <a:sym typeface="Anantason UltraExpanded"/>
              </a:rPr>
              <a:t>erano</a:t>
            </a:r>
            <a:r>
              <a:rPr lang="en-US" sz="2800" b="1" dirty="0">
                <a:solidFill>
                  <a:srgbClr val="FFFFFF"/>
                </a:solidFill>
                <a:latin typeface="Anantason UltraExpanded"/>
                <a:ea typeface="Anantason UltraExpanded"/>
                <a:cs typeface="Anantason UltraExpanded"/>
                <a:sym typeface="Anantason UltraExpanded"/>
              </a:rPr>
              <a:t>: </a:t>
            </a:r>
          </a:p>
          <a:p>
            <a:pPr marL="285750" indent="-285750" algn="l">
              <a:lnSpc>
                <a:spcPts val="216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it-IT" sz="2800" b="1" dirty="0">
                <a:solidFill>
                  <a:srgbClr val="FFFFFF"/>
                </a:solidFill>
                <a:latin typeface="Anantason UltraExpanded"/>
                <a:ea typeface="Anantason UltraExpanded"/>
                <a:cs typeface="Anantason UltraExpanded"/>
                <a:sym typeface="Anantason UltraExpanded"/>
              </a:rPr>
              <a:t>caricare correttamente il dataset CIFAR10;</a:t>
            </a:r>
          </a:p>
          <a:p>
            <a:pPr marL="285750" indent="-285750" algn="l">
              <a:lnSpc>
                <a:spcPts val="216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it-IT" sz="2800" b="1" dirty="0">
              <a:solidFill>
                <a:srgbClr val="FFFFFF"/>
              </a:solidFill>
              <a:latin typeface="Anantason UltraExpanded"/>
              <a:ea typeface="Anantason UltraExpanded"/>
              <a:cs typeface="Anantason UltraExpanded"/>
              <a:sym typeface="Anantason UltraExpanded"/>
            </a:endParaRPr>
          </a:p>
          <a:p>
            <a:pPr marL="285750" indent="-285750" algn="l">
              <a:lnSpc>
                <a:spcPts val="216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it-IT" sz="2800" b="1" dirty="0">
                <a:solidFill>
                  <a:srgbClr val="FFFFFF"/>
                </a:solidFill>
                <a:latin typeface="Anantason UltraExpanded"/>
                <a:ea typeface="Anantason UltraExpanded"/>
                <a:cs typeface="Anantason UltraExpanded"/>
                <a:sym typeface="Anantason UltraExpanded"/>
              </a:rPr>
              <a:t>utilizzare i seguenti modelli di classificazione: regressione logistica, k-NN, SVM, </a:t>
            </a:r>
            <a:r>
              <a:rPr lang="it-IT" sz="2800" b="1" dirty="0" err="1">
                <a:solidFill>
                  <a:srgbClr val="FFFFFF"/>
                </a:solidFill>
                <a:latin typeface="Anantason UltraExpanded"/>
                <a:ea typeface="Anantason UltraExpanded"/>
                <a:cs typeface="Anantason UltraExpanded"/>
                <a:sym typeface="Anantason UltraExpanded"/>
              </a:rPr>
              <a:t>decision</a:t>
            </a:r>
            <a:r>
              <a:rPr lang="it-IT" sz="2800" b="1" dirty="0">
                <a:solidFill>
                  <a:srgbClr val="FFFFFF"/>
                </a:solidFill>
                <a:latin typeface="Anantason UltraExpanded"/>
                <a:ea typeface="Anantason UltraExpanded"/>
                <a:cs typeface="Anantason UltraExpanded"/>
                <a:sym typeface="Anantason UltraExpanded"/>
              </a:rPr>
              <a:t> </a:t>
            </a:r>
            <a:r>
              <a:rPr lang="it-IT" sz="2800" b="1" dirty="0" err="1">
                <a:solidFill>
                  <a:srgbClr val="FFFFFF"/>
                </a:solidFill>
                <a:latin typeface="Anantason UltraExpanded"/>
                <a:ea typeface="Anantason UltraExpanded"/>
                <a:cs typeface="Anantason UltraExpanded"/>
                <a:sym typeface="Anantason UltraExpanded"/>
              </a:rPr>
              <a:t>tree</a:t>
            </a:r>
            <a:r>
              <a:rPr lang="it-IT" sz="2800" b="1" dirty="0">
                <a:solidFill>
                  <a:srgbClr val="FFFFFF"/>
                </a:solidFill>
                <a:latin typeface="Anantason UltraExpanded"/>
                <a:ea typeface="Anantason UltraExpanded"/>
                <a:cs typeface="Anantason UltraExpanded"/>
                <a:sym typeface="Anantason UltraExpanded"/>
              </a:rPr>
              <a:t>;</a:t>
            </a:r>
          </a:p>
          <a:p>
            <a:pPr marL="285750" indent="-285750" algn="l">
              <a:lnSpc>
                <a:spcPts val="216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it-IT" sz="2800" b="1" dirty="0">
              <a:solidFill>
                <a:srgbClr val="FFFFFF"/>
              </a:solidFill>
              <a:latin typeface="Anantason UltraExpanded"/>
              <a:ea typeface="Anantason UltraExpanded"/>
              <a:cs typeface="Anantason UltraExpanded"/>
              <a:sym typeface="Anantason UltraExpanded"/>
            </a:endParaRPr>
          </a:p>
          <a:p>
            <a:pPr marL="285750" indent="-285750" algn="l">
              <a:lnSpc>
                <a:spcPts val="216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it-IT" sz="2800" b="1" dirty="0">
                <a:solidFill>
                  <a:srgbClr val="FFFFFF"/>
                </a:solidFill>
                <a:latin typeface="Anantason UltraExpanded"/>
                <a:ea typeface="Anantason UltraExpanded"/>
                <a:cs typeface="Anantason UltraExpanded"/>
                <a:sym typeface="Anantason UltraExpanded"/>
              </a:rPr>
              <a:t>effettuare la model </a:t>
            </a:r>
            <a:r>
              <a:rPr lang="it-IT" sz="2800" b="1" dirty="0" err="1">
                <a:solidFill>
                  <a:srgbClr val="FFFFFF"/>
                </a:solidFill>
                <a:latin typeface="Anantason UltraExpanded"/>
                <a:ea typeface="Anantason UltraExpanded"/>
                <a:cs typeface="Anantason UltraExpanded"/>
                <a:sym typeface="Anantason UltraExpanded"/>
              </a:rPr>
              <a:t>selection</a:t>
            </a:r>
            <a:r>
              <a:rPr lang="it-IT" sz="2800" b="1" dirty="0">
                <a:solidFill>
                  <a:srgbClr val="FFFFFF"/>
                </a:solidFill>
                <a:latin typeface="Anantason UltraExpanded"/>
                <a:ea typeface="Anantason UltraExpanded"/>
                <a:cs typeface="Anantason UltraExpanded"/>
                <a:sym typeface="Anantason UltraExpanded"/>
              </a:rPr>
              <a:t>;</a:t>
            </a:r>
          </a:p>
          <a:p>
            <a:pPr marL="285750" indent="-285750" algn="l">
              <a:lnSpc>
                <a:spcPts val="216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it-IT" sz="2800" b="1" dirty="0">
              <a:solidFill>
                <a:srgbClr val="FFFFFF"/>
              </a:solidFill>
              <a:latin typeface="Anantason UltraExpanded"/>
              <a:ea typeface="Anantason UltraExpanded"/>
              <a:cs typeface="Anantason UltraExpanded"/>
              <a:sym typeface="Anantason UltraExpanded"/>
            </a:endParaRPr>
          </a:p>
          <a:p>
            <a:pPr marL="285750" indent="-285750" algn="l">
              <a:lnSpc>
                <a:spcPts val="216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it-IT" sz="2800" b="1" dirty="0">
                <a:solidFill>
                  <a:srgbClr val="FFFFFF"/>
                </a:solidFill>
                <a:latin typeface="Anantason UltraExpanded"/>
                <a:ea typeface="Anantason UltraExpanded"/>
                <a:cs typeface="Anantason UltraExpanded"/>
                <a:sym typeface="Anantason UltraExpanded"/>
              </a:rPr>
              <a:t>riportare le prestazioni ottenute secondo le metriche di valutazione appropriate.</a:t>
            </a:r>
            <a:endParaRPr lang="en-US" sz="2800" b="1" dirty="0">
              <a:solidFill>
                <a:srgbClr val="FFFFFF"/>
              </a:solidFill>
              <a:latin typeface="Anantason UltraExpanded"/>
              <a:ea typeface="Anantason UltraExpanded"/>
              <a:cs typeface="Anantason UltraExpanded"/>
              <a:sym typeface="Anantason UltraExpanded"/>
            </a:endParaRPr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02498CAE-A106-75AF-D2DD-22E15B036489}"/>
              </a:ext>
            </a:extLst>
          </p:cNvPr>
          <p:cNvSpPr/>
          <p:nvPr/>
        </p:nvSpPr>
        <p:spPr>
          <a:xfrm flipV="1">
            <a:off x="990600" y="2262782"/>
            <a:ext cx="0" cy="862730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48000" y="-5089818"/>
            <a:ext cx="16355952" cy="16022018"/>
          </a:xfrm>
          <a:custGeom>
            <a:avLst/>
            <a:gdLst/>
            <a:ahLst/>
            <a:cxnLst/>
            <a:rect l="l" t="t" r="r" b="b"/>
            <a:pathLst>
              <a:path w="16355952" h="16022018">
                <a:moveTo>
                  <a:pt x="0" y="0"/>
                </a:moveTo>
                <a:lnTo>
                  <a:pt x="16355952" y="0"/>
                </a:lnTo>
                <a:lnTo>
                  <a:pt x="16355952" y="16022018"/>
                </a:lnTo>
                <a:lnTo>
                  <a:pt x="0" y="1602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0" y="4991100"/>
            <a:ext cx="4248151" cy="5295900"/>
          </a:xfrm>
          <a:custGeom>
            <a:avLst/>
            <a:gdLst/>
            <a:ahLst/>
            <a:cxnLst/>
            <a:rect l="l" t="t" r="r" b="b"/>
            <a:pathLst>
              <a:path w="6484649" h="6496461">
                <a:moveTo>
                  <a:pt x="0" y="0"/>
                </a:moveTo>
                <a:lnTo>
                  <a:pt x="6484649" y="0"/>
                </a:lnTo>
                <a:lnTo>
                  <a:pt x="6484649" y="6496461"/>
                </a:lnTo>
                <a:lnTo>
                  <a:pt x="0" y="6496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2277210" y="515868"/>
            <a:ext cx="5133451" cy="2763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399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Per il </a:t>
            </a:r>
            <a:r>
              <a:rPr lang="en-US" sz="2399" b="1" dirty="0">
                <a:solidFill>
                  <a:srgbClr val="FFFFFF"/>
                </a:solidFill>
                <a:latin typeface="Codec Pro"/>
                <a:sym typeface="Codec Pro"/>
              </a:rPr>
              <a:t>caricamento</a:t>
            </a:r>
            <a:r>
              <a:rPr lang="en-US" sz="2399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del dataset ho </a:t>
            </a:r>
            <a:r>
              <a:rPr lang="en-US" sz="2399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consultato</a:t>
            </a:r>
            <a:r>
              <a:rPr lang="en-US" sz="2399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la </a:t>
            </a:r>
            <a:r>
              <a:rPr lang="en-US" sz="2399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documentazione</a:t>
            </a:r>
            <a:r>
              <a:rPr lang="en-US" sz="2399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fornita</a:t>
            </a:r>
            <a:r>
              <a:rPr lang="en-US" sz="2399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, la quale </a:t>
            </a:r>
            <a:r>
              <a:rPr lang="en-US" sz="2399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includeva</a:t>
            </a:r>
            <a:r>
              <a:rPr lang="en-US" sz="2399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sia</a:t>
            </a:r>
            <a:r>
              <a:rPr lang="en-US" sz="2399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il link per il download </a:t>
            </a:r>
            <a:r>
              <a:rPr lang="en-US" sz="2399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dei</a:t>
            </a:r>
            <a:r>
              <a:rPr lang="en-US" sz="2399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dati</a:t>
            </a:r>
            <a:r>
              <a:rPr lang="en-US" sz="2399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sia</a:t>
            </a:r>
            <a:r>
              <a:rPr lang="en-US" sz="2399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una</a:t>
            </a:r>
            <a:r>
              <a:rPr lang="en-US" sz="2399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funzione</a:t>
            </a:r>
            <a:r>
              <a:rPr lang="en-US" sz="2399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giá</a:t>
            </a:r>
            <a:r>
              <a:rPr lang="en-US" sz="2399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definita</a:t>
            </a:r>
            <a:r>
              <a:rPr lang="en-US" sz="2399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per </a:t>
            </a:r>
            <a:r>
              <a:rPr lang="en-US" sz="2399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aprire</a:t>
            </a:r>
            <a:r>
              <a:rPr lang="en-US" sz="2399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i</a:t>
            </a:r>
            <a:r>
              <a:rPr lang="en-US" sz="2399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vari</a:t>
            </a:r>
            <a:r>
              <a:rPr lang="en-US" sz="2399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file e </a:t>
            </a:r>
            <a:r>
              <a:rPr lang="en-US" sz="2399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restituirli</a:t>
            </a:r>
            <a:r>
              <a:rPr lang="en-US" sz="2399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come </a:t>
            </a:r>
            <a:r>
              <a:rPr lang="en-US" sz="2399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dizionari</a:t>
            </a:r>
            <a:r>
              <a:rPr lang="en-US" sz="2399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6096000" y="7298104"/>
            <a:ext cx="19050" cy="550310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Box 11"/>
          <p:cNvSpPr txBox="1"/>
          <p:nvPr/>
        </p:nvSpPr>
        <p:spPr>
          <a:xfrm>
            <a:off x="71936" y="657941"/>
            <a:ext cx="5753100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78FF8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Caricamento del dataset:</a:t>
            </a:r>
          </a:p>
        </p:txBody>
      </p:sp>
      <p:pic>
        <p:nvPicPr>
          <p:cNvPr id="13" name="Immagine 12" descr="Immagine che contiene testo, schermata, Carattere">
            <a:extLst>
              <a:ext uri="{FF2B5EF4-FFF2-40B4-BE49-F238E27FC236}">
                <a16:creationId xmlns:a16="http://schemas.microsoft.com/office/drawing/2014/main" id="{961A29D0-5E7C-2C88-9ED4-1D7728A8D3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283" y="1047577"/>
            <a:ext cx="4981433" cy="1873614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63ED3F3-101C-906B-11E3-69B1B562CDC5}"/>
              </a:ext>
            </a:extLst>
          </p:cNvPr>
          <p:cNvSpPr txBox="1"/>
          <p:nvPr/>
        </p:nvSpPr>
        <p:spPr>
          <a:xfrm>
            <a:off x="6486474" y="4408390"/>
            <a:ext cx="445059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bg1"/>
                </a:solidFill>
                <a:latin typeface="Codec Pro" panose="020B0604020202020204" charset="0"/>
              </a:rPr>
              <a:t>Dopo aver chiamato la funzione sui file caricati, il passo successivo è stato concatenare i cinque batch di addestramento per ottenere un unico training set. A tal fine, ho utilizzato un ciclo per raccogliere i dati in una lista, che poi ho concatenato in un unico insieme di dati.</a:t>
            </a:r>
          </a:p>
        </p:txBody>
      </p:sp>
      <p:pic>
        <p:nvPicPr>
          <p:cNvPr id="16" name="Immagine 15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FCF15925-5491-0FDD-9BF5-901DEE8004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264"/>
          <a:stretch/>
        </p:blipFill>
        <p:spPr>
          <a:xfrm>
            <a:off x="10964604" y="3623499"/>
            <a:ext cx="6468457" cy="3439005"/>
          </a:xfrm>
          <a:prstGeom prst="rect">
            <a:avLst/>
          </a:prstGeom>
        </p:spPr>
      </p:pic>
      <p:pic>
        <p:nvPicPr>
          <p:cNvPr id="18" name="Immagine 17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C2D0D527-BE4D-B5BF-E3E4-ED64D3D1F4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8795" r="32588" b="15634"/>
          <a:stretch/>
        </p:blipFill>
        <p:spPr>
          <a:xfrm>
            <a:off x="10964604" y="7298104"/>
            <a:ext cx="6468457" cy="2530468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080F5B3-1D59-3726-0519-2D6AA539F60C}"/>
              </a:ext>
            </a:extLst>
          </p:cNvPr>
          <p:cNvSpPr txBox="1"/>
          <p:nvPr/>
        </p:nvSpPr>
        <p:spPr>
          <a:xfrm rot="1248250" flipH="1">
            <a:off x="6448108" y="933224"/>
            <a:ext cx="12412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3EA14AAB-A972-426F-2CB7-8575FBC44760}"/>
              </a:ext>
            </a:extLst>
          </p:cNvPr>
          <p:cNvSpPr txBox="1"/>
          <p:nvPr/>
        </p:nvSpPr>
        <p:spPr>
          <a:xfrm rot="1248250" flipH="1">
            <a:off x="10707915" y="3554194"/>
            <a:ext cx="1241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8A4F0EC-B140-BF01-5277-AF75EEF44912}"/>
              </a:ext>
            </a:extLst>
          </p:cNvPr>
          <p:cNvSpPr txBox="1"/>
          <p:nvPr/>
        </p:nvSpPr>
        <p:spPr>
          <a:xfrm rot="1248250" flipH="1">
            <a:off x="10707916" y="7223551"/>
            <a:ext cx="1241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33800" y="-6057900"/>
            <a:ext cx="16355952" cy="16022018"/>
          </a:xfrm>
          <a:custGeom>
            <a:avLst/>
            <a:gdLst/>
            <a:ahLst/>
            <a:cxnLst/>
            <a:rect l="l" t="t" r="r" b="b"/>
            <a:pathLst>
              <a:path w="16355952" h="16022018">
                <a:moveTo>
                  <a:pt x="0" y="0"/>
                </a:moveTo>
                <a:lnTo>
                  <a:pt x="16355952" y="0"/>
                </a:lnTo>
                <a:lnTo>
                  <a:pt x="16355952" y="16022018"/>
                </a:lnTo>
                <a:lnTo>
                  <a:pt x="0" y="1602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2029575" y="8440764"/>
            <a:ext cx="13496441" cy="3711521"/>
          </a:xfrm>
          <a:custGeom>
            <a:avLst/>
            <a:gdLst/>
            <a:ahLst/>
            <a:cxnLst/>
            <a:rect l="l" t="t" r="r" b="b"/>
            <a:pathLst>
              <a:path w="13496441" h="3711521">
                <a:moveTo>
                  <a:pt x="0" y="0"/>
                </a:moveTo>
                <a:lnTo>
                  <a:pt x="13496441" y="0"/>
                </a:lnTo>
                <a:lnTo>
                  <a:pt x="13496441" y="3711522"/>
                </a:lnTo>
                <a:lnTo>
                  <a:pt x="0" y="37115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854994" y="2796578"/>
            <a:ext cx="7732992" cy="6065663"/>
            <a:chOff x="0" y="0"/>
            <a:chExt cx="2036673" cy="15975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36673" cy="1597541"/>
            </a:xfrm>
            <a:custGeom>
              <a:avLst/>
              <a:gdLst/>
              <a:ahLst/>
              <a:cxnLst/>
              <a:rect l="l" t="t" r="r" b="b"/>
              <a:pathLst>
                <a:path w="2036673" h="1597541">
                  <a:moveTo>
                    <a:pt x="51059" y="0"/>
                  </a:moveTo>
                  <a:lnTo>
                    <a:pt x="1985614" y="0"/>
                  </a:lnTo>
                  <a:cubicBezTo>
                    <a:pt x="2013813" y="0"/>
                    <a:pt x="2036673" y="22860"/>
                    <a:pt x="2036673" y="51059"/>
                  </a:cubicBezTo>
                  <a:lnTo>
                    <a:pt x="2036673" y="1546482"/>
                  </a:lnTo>
                  <a:cubicBezTo>
                    <a:pt x="2036673" y="1560024"/>
                    <a:pt x="2031293" y="1573011"/>
                    <a:pt x="2021718" y="1582586"/>
                  </a:cubicBezTo>
                  <a:cubicBezTo>
                    <a:pt x="2012142" y="1592161"/>
                    <a:pt x="1999155" y="1597541"/>
                    <a:pt x="1985614" y="1597541"/>
                  </a:cubicBezTo>
                  <a:lnTo>
                    <a:pt x="51059" y="1597541"/>
                  </a:lnTo>
                  <a:cubicBezTo>
                    <a:pt x="22860" y="1597541"/>
                    <a:pt x="0" y="1574681"/>
                    <a:pt x="0" y="1546482"/>
                  </a:cubicBezTo>
                  <a:lnTo>
                    <a:pt x="0" y="51059"/>
                  </a:lnTo>
                  <a:cubicBezTo>
                    <a:pt x="0" y="22860"/>
                    <a:pt x="22860" y="0"/>
                    <a:pt x="510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85725"/>
              <a:ext cx="2036673" cy="1683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726173" y="2796578"/>
            <a:ext cx="7732992" cy="6065663"/>
            <a:chOff x="0" y="0"/>
            <a:chExt cx="2036673" cy="15975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36673" cy="1597541"/>
            </a:xfrm>
            <a:custGeom>
              <a:avLst/>
              <a:gdLst/>
              <a:ahLst/>
              <a:cxnLst/>
              <a:rect l="l" t="t" r="r" b="b"/>
              <a:pathLst>
                <a:path w="2036673" h="1597541">
                  <a:moveTo>
                    <a:pt x="51059" y="0"/>
                  </a:moveTo>
                  <a:lnTo>
                    <a:pt x="1985614" y="0"/>
                  </a:lnTo>
                  <a:cubicBezTo>
                    <a:pt x="2013813" y="0"/>
                    <a:pt x="2036673" y="22860"/>
                    <a:pt x="2036673" y="51059"/>
                  </a:cubicBezTo>
                  <a:lnTo>
                    <a:pt x="2036673" y="1546482"/>
                  </a:lnTo>
                  <a:cubicBezTo>
                    <a:pt x="2036673" y="1560024"/>
                    <a:pt x="2031293" y="1573011"/>
                    <a:pt x="2021718" y="1582586"/>
                  </a:cubicBezTo>
                  <a:cubicBezTo>
                    <a:pt x="2012142" y="1592161"/>
                    <a:pt x="1999155" y="1597541"/>
                    <a:pt x="1985614" y="1597541"/>
                  </a:cubicBezTo>
                  <a:lnTo>
                    <a:pt x="51059" y="1597541"/>
                  </a:lnTo>
                  <a:cubicBezTo>
                    <a:pt x="22860" y="1597541"/>
                    <a:pt x="0" y="1574681"/>
                    <a:pt x="0" y="1546482"/>
                  </a:cubicBezTo>
                  <a:lnTo>
                    <a:pt x="0" y="51059"/>
                  </a:lnTo>
                  <a:cubicBezTo>
                    <a:pt x="0" y="22860"/>
                    <a:pt x="22860" y="0"/>
                    <a:pt x="510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2036673" cy="1683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29939" y="3373853"/>
            <a:ext cx="3323109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78FF8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MODELS</a:t>
            </a:r>
            <a:endParaRPr lang="en-US" sz="3000" b="1" u="none" strike="noStrike" dirty="0">
              <a:solidFill>
                <a:srgbClr val="78FF87"/>
              </a:solidFill>
              <a:latin typeface="Anantason UltraExpanded Bold"/>
              <a:ea typeface="Anantason UltraExpanded Bold"/>
              <a:cs typeface="Anantason UltraExpanded Bold"/>
              <a:sym typeface="Anantason UltraExpande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904908"/>
            <a:ext cx="11163300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000" b="1" dirty="0" err="1">
                <a:solidFill>
                  <a:srgbClr val="78FF8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Modelli</a:t>
            </a:r>
            <a:r>
              <a:rPr lang="en-US" sz="5000" b="1" dirty="0">
                <a:solidFill>
                  <a:srgbClr val="78FF8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9939" y="4509329"/>
            <a:ext cx="6825498" cy="2218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I </a:t>
            </a:r>
            <a:r>
              <a:rPr lang="en-US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modelli</a:t>
            </a: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da </a:t>
            </a:r>
            <a:r>
              <a:rPr lang="en-US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valutare</a:t>
            </a: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sono</a:t>
            </a: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: </a:t>
            </a:r>
            <a:r>
              <a:rPr lang="en-US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Regressione</a:t>
            </a: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Logistica, Support Vector Machines, K-Nearest-Neighbors, </a:t>
            </a:r>
            <a:r>
              <a:rPr lang="en-US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Alberi</a:t>
            </a: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decisionali</a:t>
            </a: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Per </a:t>
            </a:r>
            <a:r>
              <a:rPr lang="en-US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analizzarli</a:t>
            </a: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uno per uno, ho </a:t>
            </a:r>
            <a:r>
              <a:rPr lang="en-US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definito</a:t>
            </a: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dei</a:t>
            </a: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dizionari</a:t>
            </a: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che</a:t>
            </a: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presentano</a:t>
            </a: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tutti </a:t>
            </a:r>
            <a:r>
              <a:rPr lang="en-US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i</a:t>
            </a: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modelli</a:t>
            </a: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e </a:t>
            </a:r>
            <a:r>
              <a:rPr lang="en-US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vari</a:t>
            </a: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set di </a:t>
            </a:r>
            <a:r>
              <a:rPr lang="en-US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parametri</a:t>
            </a: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che</a:t>
            </a: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essi</a:t>
            </a: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possono</a:t>
            </a: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assumere</a:t>
            </a:r>
            <a:r>
              <a:rPr lang="en-US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</p:txBody>
      </p:sp>
      <p:pic>
        <p:nvPicPr>
          <p:cNvPr id="16" name="Immagine 15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A75F92A4-2205-CF2E-E350-8991DFE453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232" y="3009900"/>
            <a:ext cx="6781567" cy="5558943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7031208-5FB6-43DA-4EB1-36C4945626BC}"/>
              </a:ext>
            </a:extLst>
          </p:cNvPr>
          <p:cNvSpPr txBox="1"/>
          <p:nvPr/>
        </p:nvSpPr>
        <p:spPr>
          <a:xfrm rot="1248250" flipH="1">
            <a:off x="10048991" y="2891963"/>
            <a:ext cx="12412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9CF29971-0557-575A-470C-12CDBAA142EB}"/>
              </a:ext>
            </a:extLst>
          </p:cNvPr>
          <p:cNvSpPr txBox="1"/>
          <p:nvPr/>
        </p:nvSpPr>
        <p:spPr>
          <a:xfrm rot="1248250" flipH="1">
            <a:off x="16655510" y="8250535"/>
            <a:ext cx="12412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flipV="1">
            <a:off x="-1219200" y="2247900"/>
            <a:ext cx="5911590" cy="7259734"/>
          </a:xfrm>
          <a:custGeom>
            <a:avLst/>
            <a:gdLst/>
            <a:ahLst/>
            <a:cxnLst/>
            <a:rect l="l" t="t" r="r" b="b"/>
            <a:pathLst>
              <a:path w="7596976" h="7508196">
                <a:moveTo>
                  <a:pt x="0" y="7508197"/>
                </a:moveTo>
                <a:lnTo>
                  <a:pt x="7596976" y="7508197"/>
                </a:lnTo>
                <a:lnTo>
                  <a:pt x="7596976" y="0"/>
                </a:lnTo>
                <a:lnTo>
                  <a:pt x="0" y="0"/>
                </a:lnTo>
                <a:lnTo>
                  <a:pt x="0" y="750819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838200" y="700487"/>
            <a:ext cx="3581400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78FF8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Model selection:</a:t>
            </a: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826F79F8-F213-268E-A36D-3785E9015036}"/>
              </a:ext>
            </a:extLst>
          </p:cNvPr>
          <p:cNvSpPr txBox="1"/>
          <p:nvPr/>
        </p:nvSpPr>
        <p:spPr>
          <a:xfrm>
            <a:off x="6367526" y="700487"/>
            <a:ext cx="9883153" cy="40781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it-IT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Poiché i parametri impostabili in un modello sono numerosi testare le singole configurazioni è dispendioso. Tuttavia la ricerca dei parametri ottimali è l' unico modo che abbiamo per assicurarci di estrarre la miglior performance dal nostro modello. In questi casi ci sono diverse strategie per cercare la configurazione migliore. Una di questa è la </a:t>
            </a:r>
            <a:r>
              <a:rPr lang="it-IT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Grid</a:t>
            </a:r>
            <a:r>
              <a:rPr lang="it-IT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it-IT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search</a:t>
            </a:r>
            <a:r>
              <a:rPr lang="it-IT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che consiste nel testare tutte le possibili configurazioni e selezionare la migliore. 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endParaRPr lang="it-IT" sz="2400" b="1" dirty="0">
              <a:solidFill>
                <a:srgbClr val="FFFFFF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it-IT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Ho infatti usato la classe </a:t>
            </a:r>
            <a:r>
              <a:rPr lang="it-IT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GridSearchCV</a:t>
            </a:r>
            <a:r>
              <a:rPr lang="it-IT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di </a:t>
            </a:r>
            <a:r>
              <a:rPr lang="it-IT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sklearn</a:t>
            </a:r>
            <a:r>
              <a:rPr lang="it-IT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che effettua contemporaneamente ricerca a griglia e cross-</a:t>
            </a:r>
            <a:r>
              <a:rPr lang="it-IT" sz="2400" b="1" dirty="0" err="1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validation</a:t>
            </a:r>
            <a:r>
              <a:rPr lang="it-IT" sz="2400" b="1" dirty="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  <a:endParaRPr lang="en-US" sz="2400" b="1" dirty="0">
              <a:solidFill>
                <a:srgbClr val="FFFFFF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A41A0845-AEA7-473A-F64D-7C8C62E235F7}"/>
              </a:ext>
            </a:extLst>
          </p:cNvPr>
          <p:cNvSpPr/>
          <p:nvPr/>
        </p:nvSpPr>
        <p:spPr>
          <a:xfrm>
            <a:off x="-6858000" y="1438755"/>
            <a:ext cx="16355952" cy="16022018"/>
          </a:xfrm>
          <a:custGeom>
            <a:avLst/>
            <a:gdLst/>
            <a:ahLst/>
            <a:cxnLst/>
            <a:rect l="l" t="t" r="r" b="b"/>
            <a:pathLst>
              <a:path w="16355952" h="16022018">
                <a:moveTo>
                  <a:pt x="0" y="0"/>
                </a:moveTo>
                <a:lnTo>
                  <a:pt x="16355952" y="0"/>
                </a:lnTo>
                <a:lnTo>
                  <a:pt x="16355952" y="16022018"/>
                </a:lnTo>
                <a:lnTo>
                  <a:pt x="0" y="160220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pic>
        <p:nvPicPr>
          <p:cNvPr id="10" name="Immagine 9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E5B704EF-0BB6-D839-2C7C-796EDE3095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598" y="5753100"/>
            <a:ext cx="10731007" cy="4157131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B69BACD-A62F-7501-0700-D020C19AC9E5}"/>
              </a:ext>
            </a:extLst>
          </p:cNvPr>
          <p:cNvSpPr txBox="1"/>
          <p:nvPr/>
        </p:nvSpPr>
        <p:spPr>
          <a:xfrm rot="921959" flipH="1">
            <a:off x="5662749" y="5603688"/>
            <a:ext cx="12412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6BAF95D-53A9-9D21-C381-FAB3E889EB1E}"/>
              </a:ext>
            </a:extLst>
          </p:cNvPr>
          <p:cNvSpPr txBox="1"/>
          <p:nvPr/>
        </p:nvSpPr>
        <p:spPr>
          <a:xfrm rot="1248250" flipH="1">
            <a:off x="16277908" y="9524822"/>
            <a:ext cx="12412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34000" y="-5905500"/>
            <a:ext cx="16355952" cy="16022018"/>
          </a:xfrm>
          <a:custGeom>
            <a:avLst/>
            <a:gdLst/>
            <a:ahLst/>
            <a:cxnLst/>
            <a:rect l="l" t="t" r="r" b="b"/>
            <a:pathLst>
              <a:path w="16355952" h="16022018">
                <a:moveTo>
                  <a:pt x="0" y="0"/>
                </a:moveTo>
                <a:lnTo>
                  <a:pt x="16355952" y="0"/>
                </a:lnTo>
                <a:lnTo>
                  <a:pt x="16355952" y="16022018"/>
                </a:lnTo>
                <a:lnTo>
                  <a:pt x="0" y="1602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047427" y="933873"/>
            <a:ext cx="6039173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000" b="1" dirty="0" err="1">
                <a:solidFill>
                  <a:srgbClr val="78FF8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Visualizzazione</a:t>
            </a:r>
            <a:r>
              <a:rPr lang="en-US" sz="5000" b="1" dirty="0">
                <a:solidFill>
                  <a:srgbClr val="78FF8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:</a:t>
            </a:r>
            <a:endParaRPr lang="en-US" sz="5000" b="1" u="none" strike="noStrike" dirty="0">
              <a:solidFill>
                <a:srgbClr val="78FF87"/>
              </a:solidFill>
              <a:latin typeface="Anantason UltraExpanded Bold"/>
              <a:ea typeface="Anantason UltraExpanded Bold"/>
              <a:cs typeface="Anantason UltraExpanded Bold"/>
              <a:sym typeface="Anantason UltraExpanded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0" y="2400300"/>
            <a:ext cx="8529624" cy="7437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Per la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visualizzazione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dei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risultati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ho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sfruttato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: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endParaRPr lang="en-US" sz="2400" b="1" dirty="0">
              <a:solidFill>
                <a:srgbClr val="FFFFFF"/>
              </a:solidFill>
              <a:latin typeface="Anantason UltraExpanded Bold"/>
              <a:ea typeface="Anantason UltraExpanded Bold"/>
              <a:cs typeface="Anantason UltraExpanded Bold"/>
              <a:sym typeface="Anantason UltraExpanded Bold"/>
            </a:endParaRPr>
          </a:p>
          <a:p>
            <a:pPr marL="342900" indent="-342900" algn="ctr">
              <a:lnSpc>
                <a:spcPts val="28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Barra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d’avanzamento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durante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la model-selection per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monitorare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i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progressi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nel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training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dei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modelli</a:t>
            </a:r>
            <a:endParaRPr lang="en-US" sz="2400" b="1" dirty="0">
              <a:solidFill>
                <a:srgbClr val="FFFFFF"/>
              </a:solidFill>
              <a:latin typeface="Anantason UltraExpanded Bold"/>
              <a:ea typeface="Anantason UltraExpanded Bold"/>
              <a:cs typeface="Anantason UltraExpanded Bold"/>
              <a:sym typeface="Anantason UltraExpanded Bold"/>
            </a:endParaRPr>
          </a:p>
          <a:p>
            <a:pPr marL="342900" indent="-342900" algn="ctr">
              <a:lnSpc>
                <a:spcPts val="28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FFFFFF"/>
              </a:solidFill>
              <a:latin typeface="Anantason UltraExpanded Bold"/>
              <a:ea typeface="Anantason UltraExpanded Bold"/>
              <a:cs typeface="Anantason UltraExpanded Bold"/>
              <a:sym typeface="Anantason UltraExpanded Bold"/>
            </a:endParaRPr>
          </a:p>
          <a:p>
            <a:pPr marL="342900" indent="-342900" algn="ctr">
              <a:lnSpc>
                <a:spcPts val="28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Verbose=2 in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GridSearchCv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per la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visualizzazione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di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statistiche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come tempo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d’esecuzione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durante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l’addestramento</a:t>
            </a:r>
            <a:endParaRPr lang="en-US" sz="2400" b="1" dirty="0">
              <a:solidFill>
                <a:srgbClr val="FFFFFF"/>
              </a:solidFill>
              <a:latin typeface="Anantason UltraExpanded Bold"/>
              <a:ea typeface="Anantason UltraExpanded Bold"/>
              <a:cs typeface="Anantason UltraExpanded Bold"/>
              <a:sym typeface="Anantason UltraExpanded Bold"/>
            </a:endParaRPr>
          </a:p>
          <a:p>
            <a:pPr marL="342900" indent="-342900" algn="ctr">
              <a:lnSpc>
                <a:spcPts val="28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FFFFFF"/>
              </a:solidFill>
              <a:latin typeface="Anantason UltraExpanded Bold"/>
              <a:ea typeface="Anantason UltraExpanded Bold"/>
              <a:cs typeface="Anantason UltraExpanded Bold"/>
              <a:sym typeface="Anantason UltraExpanded Bold"/>
            </a:endParaRPr>
          </a:p>
          <a:p>
            <a:pPr marL="342900" indent="-342900" algn="ctr">
              <a:lnSpc>
                <a:spcPts val="28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Grafico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per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visualizzare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come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variava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l’accuracy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al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cambiare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della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configurazione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per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ogni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modello</a:t>
            </a:r>
            <a:endParaRPr lang="en-US" sz="2400" b="1" dirty="0">
              <a:solidFill>
                <a:srgbClr val="FFFFFF"/>
              </a:solidFill>
              <a:latin typeface="Anantason UltraExpanded Bold"/>
              <a:ea typeface="Anantason UltraExpanded Bold"/>
              <a:cs typeface="Anantason UltraExpanded Bold"/>
              <a:sym typeface="Anantason UltraExpanded Bold"/>
            </a:endParaRPr>
          </a:p>
          <a:p>
            <a:pPr marL="342900" indent="-342900" algn="ctr">
              <a:lnSpc>
                <a:spcPts val="28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FFFFFF"/>
              </a:solidFill>
              <a:latin typeface="Anantason UltraExpanded Bold"/>
              <a:ea typeface="Anantason UltraExpanded Bold"/>
              <a:cs typeface="Anantason UltraExpanded Bold"/>
              <a:sym typeface="Anantason UltraExpanded Bold"/>
            </a:endParaRPr>
          </a:p>
          <a:p>
            <a:pPr marL="342900" indent="-342900" algn="ctr">
              <a:lnSpc>
                <a:spcPts val="28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Matrici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di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confusione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per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ogni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modello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, molto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utili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per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capire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quali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sono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I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punti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di forza, e non, di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ognuno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di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essi</a:t>
            </a:r>
            <a:endParaRPr lang="en-US" sz="2400" b="1" dirty="0">
              <a:solidFill>
                <a:srgbClr val="FFFFFF"/>
              </a:solidFill>
              <a:latin typeface="Anantason UltraExpanded Bold"/>
              <a:ea typeface="Anantason UltraExpanded Bold"/>
              <a:cs typeface="Anantason UltraExpanded Bold"/>
              <a:sym typeface="Anantason UltraExpanded Bold"/>
            </a:endParaRPr>
          </a:p>
          <a:p>
            <a:pPr marL="342900" indent="-342900" algn="ctr">
              <a:lnSpc>
                <a:spcPts val="28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FFFFFF"/>
              </a:solidFill>
              <a:latin typeface="Anantason UltraExpanded Bold"/>
              <a:ea typeface="Anantason UltraExpanded Bold"/>
              <a:cs typeface="Anantason UltraExpanded Bold"/>
              <a:sym typeface="Anantason UltraExpanded Bold"/>
            </a:endParaRPr>
          </a:p>
          <a:p>
            <a:pPr marL="342900" indent="-342900" algn="ctr">
              <a:lnSpc>
                <a:spcPts val="28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Classification report per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avere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una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visione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piu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dettagliata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su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altre</a:t>
            </a:r>
            <a:r>
              <a:rPr lang="en-US" sz="2400" b="1" dirty="0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metriche</a:t>
            </a:r>
            <a:endParaRPr lang="en-US" sz="2400" b="1" dirty="0">
              <a:solidFill>
                <a:srgbClr val="FFFFFF"/>
              </a:solidFill>
              <a:latin typeface="Anantason UltraExpanded Bold"/>
              <a:ea typeface="Anantason UltraExpanded Bold"/>
              <a:cs typeface="Anantason UltraExpanded Bold"/>
              <a:sym typeface="Anantason UltraExpanded Bold"/>
            </a:endParaRP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65DC576B-4A38-D060-5F37-59B4E7968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104" y="879783"/>
            <a:ext cx="7108790" cy="346688"/>
          </a:xfrm>
          <a:prstGeom prst="rect">
            <a:avLst/>
          </a:prstGeom>
        </p:spPr>
      </p:pic>
      <p:pic>
        <p:nvPicPr>
          <p:cNvPr id="25" name="Immagine 24" descr="Immagine che contiene Diagramma, linea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70DBAF21-249B-DFF8-2087-498F1C242E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" t="3549" r="1879" b="1609"/>
          <a:stretch/>
        </p:blipFill>
        <p:spPr>
          <a:xfrm>
            <a:off x="9792367" y="2171700"/>
            <a:ext cx="7093527" cy="3852499"/>
          </a:xfrm>
          <a:prstGeom prst="rect">
            <a:avLst/>
          </a:prstGeom>
        </p:spPr>
      </p:pic>
      <p:sp>
        <p:nvSpPr>
          <p:cNvPr id="26" name="TextBox 4">
            <a:extLst>
              <a:ext uri="{FF2B5EF4-FFF2-40B4-BE49-F238E27FC236}">
                <a16:creationId xmlns:a16="http://schemas.microsoft.com/office/drawing/2014/main" id="{3D6E0E76-A52A-DBDE-0B46-79B4F5156C27}"/>
              </a:ext>
            </a:extLst>
          </p:cNvPr>
          <p:cNvSpPr txBox="1"/>
          <p:nvPr/>
        </p:nvSpPr>
        <p:spPr>
          <a:xfrm>
            <a:off x="9043519" y="170482"/>
            <a:ext cx="6039173" cy="700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2800" b="1" dirty="0" err="1">
                <a:solidFill>
                  <a:srgbClr val="78FF8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Esempi</a:t>
            </a:r>
            <a:r>
              <a:rPr lang="en-US" sz="2800" b="1" dirty="0">
                <a:solidFill>
                  <a:srgbClr val="78FF8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:</a:t>
            </a:r>
            <a:endParaRPr lang="en-US" sz="2800" b="1" u="none" strike="noStrike" dirty="0">
              <a:solidFill>
                <a:srgbClr val="78FF87"/>
              </a:solidFill>
              <a:latin typeface="Anantason UltraExpanded Bold"/>
              <a:ea typeface="Anantason UltraExpanded Bold"/>
              <a:cs typeface="Anantason UltraExpanded Bold"/>
              <a:sym typeface="Anantason UltraExpanded Bold"/>
            </a:endParaRPr>
          </a:p>
        </p:txBody>
      </p:sp>
      <p:pic>
        <p:nvPicPr>
          <p:cNvPr id="28" name="Immagine 27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468E3DCE-D122-7525-FC63-C1F2CF02F5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5" t="2800" r="3143" b="36806"/>
          <a:stretch/>
        </p:blipFill>
        <p:spPr>
          <a:xfrm>
            <a:off x="8753545" y="6116242"/>
            <a:ext cx="4570323" cy="3493392"/>
          </a:xfrm>
          <a:prstGeom prst="rect">
            <a:avLst/>
          </a:prstGeom>
        </p:spPr>
      </p:pic>
      <p:pic>
        <p:nvPicPr>
          <p:cNvPr id="31" name="Immagine 30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50798FC8-7768-D8C1-FC15-45F53D3E10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646" r="23916"/>
          <a:stretch/>
        </p:blipFill>
        <p:spPr>
          <a:xfrm>
            <a:off x="13484006" y="6116242"/>
            <a:ext cx="4667992" cy="3493392"/>
          </a:xfrm>
          <a:prstGeom prst="rect">
            <a:avLst/>
          </a:prstGeom>
        </p:spPr>
      </p:pic>
      <p:pic>
        <p:nvPicPr>
          <p:cNvPr id="33" name="Immagine 32">
            <a:extLst>
              <a:ext uri="{FF2B5EF4-FFF2-40B4-BE49-F238E27FC236}">
                <a16:creationId xmlns:a16="http://schemas.microsoft.com/office/drawing/2014/main" id="{5AD46BC8-B76A-0B3C-4F67-EBC7E3183E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104" y="1437975"/>
            <a:ext cx="7108790" cy="453682"/>
          </a:xfrm>
          <a:prstGeom prst="rect">
            <a:avLst/>
          </a:prstGeom>
        </p:spPr>
      </p:pic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881E817-536E-A672-CFF0-74805CACBDCD}"/>
              </a:ext>
            </a:extLst>
          </p:cNvPr>
          <p:cNvSpPr txBox="1"/>
          <p:nvPr/>
        </p:nvSpPr>
        <p:spPr>
          <a:xfrm rot="1248250" flipH="1">
            <a:off x="8540393" y="6075064"/>
            <a:ext cx="1241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C338725E-63C0-BA65-2AAD-E24D29FF6B8C}"/>
              </a:ext>
            </a:extLst>
          </p:cNvPr>
          <p:cNvSpPr txBox="1"/>
          <p:nvPr/>
        </p:nvSpPr>
        <p:spPr>
          <a:xfrm rot="1248250" flipH="1">
            <a:off x="13272161" y="6100517"/>
            <a:ext cx="12412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750EE906-1262-49DE-8257-D7BE82CD4F07}"/>
              </a:ext>
            </a:extLst>
          </p:cNvPr>
          <p:cNvSpPr txBox="1"/>
          <p:nvPr/>
        </p:nvSpPr>
        <p:spPr>
          <a:xfrm rot="1248250" flipH="1">
            <a:off x="9579326" y="2128953"/>
            <a:ext cx="1241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3715EA63-47FD-9055-610B-FDD784A0A3FC}"/>
              </a:ext>
            </a:extLst>
          </p:cNvPr>
          <p:cNvSpPr txBox="1"/>
          <p:nvPr/>
        </p:nvSpPr>
        <p:spPr>
          <a:xfrm rot="1248250" flipH="1">
            <a:off x="9546533" y="1429824"/>
            <a:ext cx="1241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BF26C01C-BBC2-25F2-7645-3E77BBE23497}"/>
              </a:ext>
            </a:extLst>
          </p:cNvPr>
          <p:cNvSpPr txBox="1"/>
          <p:nvPr/>
        </p:nvSpPr>
        <p:spPr>
          <a:xfrm rot="1248250" flipH="1">
            <a:off x="9546534" y="895095"/>
            <a:ext cx="1241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194414" y="-7199426"/>
            <a:ext cx="16355952" cy="16022018"/>
          </a:xfrm>
          <a:custGeom>
            <a:avLst/>
            <a:gdLst/>
            <a:ahLst/>
            <a:cxnLst/>
            <a:rect l="l" t="t" r="r" b="b"/>
            <a:pathLst>
              <a:path w="16355952" h="16022018">
                <a:moveTo>
                  <a:pt x="0" y="0"/>
                </a:moveTo>
                <a:lnTo>
                  <a:pt x="16355952" y="0"/>
                </a:lnTo>
                <a:lnTo>
                  <a:pt x="16355952" y="16022018"/>
                </a:lnTo>
                <a:lnTo>
                  <a:pt x="0" y="1602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028302" y="537574"/>
            <a:ext cx="3162300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000" b="1" dirty="0" err="1">
                <a:solidFill>
                  <a:srgbClr val="78FF8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Risultati</a:t>
            </a:r>
            <a:r>
              <a:rPr lang="en-US" sz="5000" b="1" dirty="0">
                <a:solidFill>
                  <a:srgbClr val="78FF8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: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302" y="1562100"/>
            <a:ext cx="3879355" cy="6193077"/>
            <a:chOff x="0" y="0"/>
            <a:chExt cx="1129438" cy="148890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29438" cy="1488909"/>
            </a:xfrm>
            <a:custGeom>
              <a:avLst/>
              <a:gdLst/>
              <a:ahLst/>
              <a:cxnLst/>
              <a:rect l="l" t="t" r="r" b="b"/>
              <a:pathLst>
                <a:path w="1129438" h="1488909">
                  <a:moveTo>
                    <a:pt x="101779" y="0"/>
                  </a:moveTo>
                  <a:lnTo>
                    <a:pt x="1027659" y="0"/>
                  </a:lnTo>
                  <a:cubicBezTo>
                    <a:pt x="1054652" y="0"/>
                    <a:pt x="1080540" y="10723"/>
                    <a:pt x="1099627" y="29810"/>
                  </a:cubicBezTo>
                  <a:cubicBezTo>
                    <a:pt x="1118715" y="48898"/>
                    <a:pt x="1129438" y="74786"/>
                    <a:pt x="1129438" y="101779"/>
                  </a:cubicBezTo>
                  <a:lnTo>
                    <a:pt x="1129438" y="1387130"/>
                  </a:lnTo>
                  <a:cubicBezTo>
                    <a:pt x="1129438" y="1414123"/>
                    <a:pt x="1118715" y="1440011"/>
                    <a:pt x="1099627" y="1459099"/>
                  </a:cubicBezTo>
                  <a:cubicBezTo>
                    <a:pt x="1080540" y="1478186"/>
                    <a:pt x="1054652" y="1488909"/>
                    <a:pt x="1027659" y="1488909"/>
                  </a:cubicBezTo>
                  <a:lnTo>
                    <a:pt x="101779" y="1488909"/>
                  </a:lnTo>
                  <a:cubicBezTo>
                    <a:pt x="74786" y="1488909"/>
                    <a:pt x="48898" y="1478186"/>
                    <a:pt x="29810" y="1459099"/>
                  </a:cubicBezTo>
                  <a:cubicBezTo>
                    <a:pt x="10723" y="1440011"/>
                    <a:pt x="0" y="1414123"/>
                    <a:pt x="0" y="1387130"/>
                  </a:cubicBezTo>
                  <a:lnTo>
                    <a:pt x="0" y="101779"/>
                  </a:lnTo>
                  <a:cubicBezTo>
                    <a:pt x="0" y="74786"/>
                    <a:pt x="10723" y="48898"/>
                    <a:pt x="29810" y="29810"/>
                  </a:cubicBezTo>
                  <a:cubicBezTo>
                    <a:pt x="48898" y="10723"/>
                    <a:pt x="74786" y="0"/>
                    <a:pt x="1017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85725"/>
              <a:ext cx="1129438" cy="1574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785662" y="3037576"/>
            <a:ext cx="3879355" cy="5012046"/>
            <a:chOff x="0" y="0"/>
            <a:chExt cx="1129438" cy="189255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29438" cy="1892554"/>
            </a:xfrm>
            <a:custGeom>
              <a:avLst/>
              <a:gdLst/>
              <a:ahLst/>
              <a:cxnLst/>
              <a:rect l="l" t="t" r="r" b="b"/>
              <a:pathLst>
                <a:path w="1129438" h="1892554">
                  <a:moveTo>
                    <a:pt x="101779" y="0"/>
                  </a:moveTo>
                  <a:lnTo>
                    <a:pt x="1027659" y="0"/>
                  </a:lnTo>
                  <a:cubicBezTo>
                    <a:pt x="1054652" y="0"/>
                    <a:pt x="1080540" y="10723"/>
                    <a:pt x="1099627" y="29810"/>
                  </a:cubicBezTo>
                  <a:cubicBezTo>
                    <a:pt x="1118715" y="48898"/>
                    <a:pt x="1129438" y="74786"/>
                    <a:pt x="1129438" y="101779"/>
                  </a:cubicBezTo>
                  <a:lnTo>
                    <a:pt x="1129438" y="1790775"/>
                  </a:lnTo>
                  <a:cubicBezTo>
                    <a:pt x="1129438" y="1846986"/>
                    <a:pt x="1083870" y="1892554"/>
                    <a:pt x="1027659" y="1892554"/>
                  </a:cubicBezTo>
                  <a:lnTo>
                    <a:pt x="101779" y="1892554"/>
                  </a:lnTo>
                  <a:cubicBezTo>
                    <a:pt x="74786" y="1892554"/>
                    <a:pt x="48898" y="1881831"/>
                    <a:pt x="29810" y="1862743"/>
                  </a:cubicBezTo>
                  <a:cubicBezTo>
                    <a:pt x="10723" y="1843656"/>
                    <a:pt x="0" y="1817768"/>
                    <a:pt x="0" y="1790775"/>
                  </a:cubicBezTo>
                  <a:lnTo>
                    <a:pt x="0" y="101779"/>
                  </a:lnTo>
                  <a:cubicBezTo>
                    <a:pt x="0" y="74786"/>
                    <a:pt x="10723" y="48898"/>
                    <a:pt x="29810" y="29810"/>
                  </a:cubicBezTo>
                  <a:cubicBezTo>
                    <a:pt x="48898" y="10723"/>
                    <a:pt x="74786" y="0"/>
                    <a:pt x="1017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1129438" cy="1978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570732" y="3771899"/>
            <a:ext cx="3879355" cy="6049354"/>
            <a:chOff x="0" y="0"/>
            <a:chExt cx="1129438" cy="199814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29438" cy="1998144"/>
            </a:xfrm>
            <a:custGeom>
              <a:avLst/>
              <a:gdLst/>
              <a:ahLst/>
              <a:cxnLst/>
              <a:rect l="l" t="t" r="r" b="b"/>
              <a:pathLst>
                <a:path w="1129438" h="1998144">
                  <a:moveTo>
                    <a:pt x="101779" y="0"/>
                  </a:moveTo>
                  <a:lnTo>
                    <a:pt x="1027659" y="0"/>
                  </a:lnTo>
                  <a:cubicBezTo>
                    <a:pt x="1054652" y="0"/>
                    <a:pt x="1080540" y="10723"/>
                    <a:pt x="1099627" y="29810"/>
                  </a:cubicBezTo>
                  <a:cubicBezTo>
                    <a:pt x="1118715" y="48898"/>
                    <a:pt x="1129438" y="74786"/>
                    <a:pt x="1129438" y="101779"/>
                  </a:cubicBezTo>
                  <a:lnTo>
                    <a:pt x="1129438" y="1896365"/>
                  </a:lnTo>
                  <a:cubicBezTo>
                    <a:pt x="1129438" y="1923359"/>
                    <a:pt x="1118715" y="1949247"/>
                    <a:pt x="1099627" y="1968334"/>
                  </a:cubicBezTo>
                  <a:cubicBezTo>
                    <a:pt x="1080540" y="1987421"/>
                    <a:pt x="1054652" y="1998144"/>
                    <a:pt x="1027659" y="1998144"/>
                  </a:cubicBezTo>
                  <a:lnTo>
                    <a:pt x="101779" y="1998144"/>
                  </a:lnTo>
                  <a:cubicBezTo>
                    <a:pt x="45568" y="1998144"/>
                    <a:pt x="0" y="1952576"/>
                    <a:pt x="0" y="1896365"/>
                  </a:cubicBezTo>
                  <a:lnTo>
                    <a:pt x="0" y="101779"/>
                  </a:lnTo>
                  <a:cubicBezTo>
                    <a:pt x="0" y="74786"/>
                    <a:pt x="10723" y="48898"/>
                    <a:pt x="29810" y="29810"/>
                  </a:cubicBezTo>
                  <a:cubicBezTo>
                    <a:pt x="48898" y="10723"/>
                    <a:pt x="74786" y="0"/>
                    <a:pt x="1017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1129438" cy="2083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031376" y="3391261"/>
            <a:ext cx="3424761" cy="42321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07"/>
              </a:lnSpc>
            </a:pPr>
            <a:r>
              <a:rPr lang="en-US" sz="1839" b="1" dirty="0">
                <a:solidFill>
                  <a:srgbClr val="78FF8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CONSEGUENZE:</a:t>
            </a:r>
          </a:p>
          <a:p>
            <a:pPr>
              <a:lnSpc>
                <a:spcPts val="2207"/>
              </a:lnSpc>
            </a:pP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Le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conseguenze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principali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di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queste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limitazioni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riguardano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l’impossibilita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di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addestrare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I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modelli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utilizzando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l’intera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gamma di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caratteristiche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per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ciascuna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feature (3072 in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totale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),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poiché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il tempo di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esecuzione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superava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sistematicamente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il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limite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imposto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dalla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piattaforma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,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causando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l’interruzione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del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programma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42356" y="4268621"/>
            <a:ext cx="3536105" cy="4796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07"/>
              </a:lnSpc>
            </a:pPr>
            <a:r>
              <a:rPr lang="en-US" sz="1839" b="1" dirty="0">
                <a:solidFill>
                  <a:srgbClr val="78FF8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SOLUZIONI:</a:t>
            </a:r>
          </a:p>
          <a:p>
            <a:pPr algn="l">
              <a:lnSpc>
                <a:spcPts val="2207"/>
              </a:lnSpc>
            </a:pP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La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principale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strategia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adottata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per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affrontare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queste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difficoltá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é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stata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la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riduzione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della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dimensionalitá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delle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feature.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Attraverso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l’utilizzo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della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PCA ho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selezionato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soltanto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le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componenti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in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grado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di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spiegare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una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determinata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percentuale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di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varianza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complessiva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del dataset,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riducendo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cosi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in modo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significativo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le 3072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caratteristiche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associate a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ciascuna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9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immagine</a:t>
            </a:r>
            <a:r>
              <a:rPr lang="en-US" sz="1839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2743" y="1956204"/>
            <a:ext cx="3879354" cy="53605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835" b="1" dirty="0">
                <a:solidFill>
                  <a:srgbClr val="78FF87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LIMITI:</a:t>
            </a:r>
          </a:p>
          <a:p>
            <a:pPr algn="l">
              <a:lnSpc>
                <a:spcPts val="2202"/>
              </a:lnSpc>
            </a:pP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I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principali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ostacoli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riscontrati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sono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legati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agli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elevati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costi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computazionali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necessari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per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l’addestramento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dei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modelli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. Le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difficoltá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sono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derivate da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diversi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fattori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,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tra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cui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l’utilizzo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di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dispositivi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non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particolarmente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performanti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e le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limitazioni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imposte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dalla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piattaforma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utilizzata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, Kaggle.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Quest’ultima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,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infatti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,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limita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il tempo di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esecuzione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del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codice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e non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consente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l’accesso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alla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GPU per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l’addestramento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se non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tramite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una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versione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a </a:t>
            </a:r>
            <a:r>
              <a:rPr lang="en-US" sz="1835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pagamento</a:t>
            </a:r>
            <a:r>
              <a:rPr lang="en-US" sz="1835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.</a:t>
            </a:r>
            <a:endParaRPr lang="en-US" sz="1835" b="1" dirty="0">
              <a:solidFill>
                <a:srgbClr val="78FF87"/>
              </a:solidFill>
              <a:latin typeface="Anantason UltraExpanded Bold"/>
              <a:ea typeface="Anantason UltraExpanded Bold"/>
              <a:cs typeface="Anantason UltraExpanded Bold"/>
              <a:sym typeface="Anantason UltraExpanded Bold"/>
            </a:endParaRPr>
          </a:p>
        </p:txBody>
      </p:sp>
      <p:sp>
        <p:nvSpPr>
          <p:cNvPr id="21" name="Freeform 21"/>
          <p:cNvSpPr/>
          <p:nvPr/>
        </p:nvSpPr>
        <p:spPr>
          <a:xfrm rot="21105338" flipV="1">
            <a:off x="216660" y="8545159"/>
            <a:ext cx="7133708" cy="3083613"/>
          </a:xfrm>
          <a:custGeom>
            <a:avLst/>
            <a:gdLst/>
            <a:ahLst/>
            <a:cxnLst/>
            <a:rect l="l" t="t" r="r" b="b"/>
            <a:pathLst>
              <a:path w="7315200" h="3922776">
                <a:moveTo>
                  <a:pt x="0" y="3922776"/>
                </a:moveTo>
                <a:lnTo>
                  <a:pt x="7315200" y="3922776"/>
                </a:lnTo>
                <a:lnTo>
                  <a:pt x="7315200" y="0"/>
                </a:lnTo>
                <a:lnTo>
                  <a:pt x="0" y="0"/>
                </a:lnTo>
                <a:lnTo>
                  <a:pt x="0" y="392277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429000" y="-3272649"/>
            <a:ext cx="16355952" cy="16022018"/>
          </a:xfrm>
          <a:custGeom>
            <a:avLst/>
            <a:gdLst/>
            <a:ahLst/>
            <a:cxnLst/>
            <a:rect l="l" t="t" r="r" b="b"/>
            <a:pathLst>
              <a:path w="16355952" h="16022018">
                <a:moveTo>
                  <a:pt x="0" y="0"/>
                </a:moveTo>
                <a:lnTo>
                  <a:pt x="16355952" y="0"/>
                </a:lnTo>
                <a:lnTo>
                  <a:pt x="16355952" y="16022017"/>
                </a:lnTo>
                <a:lnTo>
                  <a:pt x="0" y="1602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-3429000" y="8793264"/>
            <a:ext cx="11417781" cy="4925864"/>
          </a:xfrm>
          <a:custGeom>
            <a:avLst/>
            <a:gdLst/>
            <a:ahLst/>
            <a:cxnLst/>
            <a:rect l="l" t="t" r="r" b="b"/>
            <a:pathLst>
              <a:path w="11417781" h="4925864">
                <a:moveTo>
                  <a:pt x="0" y="0"/>
                </a:moveTo>
                <a:lnTo>
                  <a:pt x="11417781" y="0"/>
                </a:lnTo>
                <a:lnTo>
                  <a:pt x="11417781" y="4925865"/>
                </a:lnTo>
                <a:lnTo>
                  <a:pt x="0" y="49258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pic>
        <p:nvPicPr>
          <p:cNvPr id="13" name="Immagine 12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080E90A2-399C-B267-2CC2-B5F0B14CA7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345211"/>
            <a:ext cx="7271065" cy="272665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F5E9FB99-BACE-588E-02B0-F0FF5F7581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4110130"/>
            <a:ext cx="3637772" cy="679051"/>
          </a:xfrm>
          <a:prstGeom prst="rect">
            <a:avLst/>
          </a:prstGeom>
        </p:spPr>
      </p:pic>
      <p:pic>
        <p:nvPicPr>
          <p:cNvPr id="17" name="Immagine 16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524EFA40-C722-99EC-2B43-9716A06716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1" y="1339338"/>
            <a:ext cx="7155228" cy="2726650"/>
          </a:xfrm>
          <a:prstGeom prst="rect">
            <a:avLst/>
          </a:prstGeom>
        </p:spPr>
      </p:pic>
      <p:pic>
        <p:nvPicPr>
          <p:cNvPr id="19" name="Immagine 18" descr="Immagine che contiene testo, Carattere,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CB1686FE-346E-9E94-3F08-45CEC99D24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" t="15992" r="22345" b="40178"/>
          <a:stretch/>
        </p:blipFill>
        <p:spPr>
          <a:xfrm>
            <a:off x="11430000" y="4134375"/>
            <a:ext cx="3429851" cy="681569"/>
          </a:xfrm>
          <a:prstGeom prst="rect">
            <a:avLst/>
          </a:prstGeom>
        </p:spPr>
      </p:pic>
      <p:pic>
        <p:nvPicPr>
          <p:cNvPr id="21" name="Immagine 20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B95F7821-2FB6-9356-530C-70C2861A93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8" t="3192" r="1470" b="37596"/>
          <a:stretch/>
        </p:blipFill>
        <p:spPr>
          <a:xfrm>
            <a:off x="12802303" y="5551130"/>
            <a:ext cx="4653554" cy="4144571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CE20E06-7A21-4F5E-B178-B129EBE118C8}"/>
              </a:ext>
            </a:extLst>
          </p:cNvPr>
          <p:cNvSpPr txBox="1"/>
          <p:nvPr/>
        </p:nvSpPr>
        <p:spPr>
          <a:xfrm>
            <a:off x="2769736" y="243661"/>
            <a:ext cx="4090668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207"/>
              </a:lnSpc>
            </a:pPr>
            <a:endParaRPr lang="en-US" sz="1600" b="1" dirty="0">
              <a:solidFill>
                <a:srgbClr val="78FF87"/>
              </a:solidFill>
              <a:latin typeface="Anantason UltraExpanded Bold"/>
              <a:ea typeface="Anantason UltraExpanded Bold"/>
              <a:cs typeface="Anantason UltraExpanded Bold"/>
              <a:sym typeface="Anantason UltraExpanded Bold"/>
            </a:endParaRPr>
          </a:p>
          <a:p>
            <a:pPr algn="l">
              <a:lnSpc>
                <a:spcPts val="2207"/>
              </a:lnSpc>
            </a:pPr>
            <a:r>
              <a:rPr lang="en-US" sz="1800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Mantendendo</a:t>
            </a:r>
            <a:r>
              <a:rPr lang="en-US" sz="1800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il 90% </a:t>
            </a:r>
            <a:r>
              <a:rPr lang="en-US" sz="1800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della</a:t>
            </a:r>
            <a:r>
              <a:rPr lang="en-US" sz="1800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varianza</a:t>
            </a:r>
            <a:r>
              <a:rPr lang="en-US" sz="1800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totale</a:t>
            </a:r>
            <a:r>
              <a:rPr lang="en-US" sz="1800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ho </a:t>
            </a:r>
            <a:r>
              <a:rPr lang="en-US" sz="1800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ottenuto</a:t>
            </a:r>
            <a:r>
              <a:rPr lang="en-US" sz="1800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:</a:t>
            </a:r>
          </a:p>
          <a:p>
            <a:endParaRPr lang="it-IT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09E4FA27-2B70-267C-D1F9-9375B654E6D0}"/>
              </a:ext>
            </a:extLst>
          </p:cNvPr>
          <p:cNvSpPr txBox="1"/>
          <p:nvPr/>
        </p:nvSpPr>
        <p:spPr>
          <a:xfrm>
            <a:off x="11049000" y="531382"/>
            <a:ext cx="4090669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207"/>
              </a:lnSpc>
            </a:pPr>
            <a:r>
              <a:rPr lang="en-US" sz="1800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Mantenendo</a:t>
            </a:r>
            <a:r>
              <a:rPr lang="en-US" sz="1800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il 95% </a:t>
            </a:r>
            <a:r>
              <a:rPr lang="en-US" sz="1800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della</a:t>
            </a:r>
            <a:r>
              <a:rPr lang="en-US" sz="1800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varianza</a:t>
            </a:r>
            <a:r>
              <a:rPr lang="en-US" sz="1800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totale</a:t>
            </a:r>
            <a:r>
              <a:rPr lang="en-US" sz="1800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ho </a:t>
            </a:r>
            <a:r>
              <a:rPr lang="en-US" sz="1800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ottenuto</a:t>
            </a:r>
            <a:r>
              <a:rPr lang="en-US" sz="1800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:</a:t>
            </a:r>
          </a:p>
          <a:p>
            <a:pPr algn="l">
              <a:lnSpc>
                <a:spcPts val="2207"/>
              </a:lnSpc>
            </a:pPr>
            <a:endParaRPr lang="en-US" sz="1800" b="1" dirty="0">
              <a:solidFill>
                <a:schemeClr val="bg1"/>
              </a:solidFill>
              <a:latin typeface="Anantason UltraExpanded Bold"/>
              <a:ea typeface="Anantason UltraExpanded Bold"/>
              <a:cs typeface="Anantason UltraExpanded Bold"/>
              <a:sym typeface="Anantason UltraExpanded Bold"/>
            </a:endParaRPr>
          </a:p>
          <a:p>
            <a:endParaRPr lang="it-IT" dirty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B1BFB8F6-00DD-C4E3-9F73-61CA08076D76}"/>
              </a:ext>
            </a:extLst>
          </p:cNvPr>
          <p:cNvSpPr txBox="1"/>
          <p:nvPr/>
        </p:nvSpPr>
        <p:spPr>
          <a:xfrm>
            <a:off x="494054" y="6321618"/>
            <a:ext cx="3352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Dopo tutti </a:t>
            </a:r>
            <a:r>
              <a:rPr lang="en-US" sz="1800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gli</a:t>
            </a:r>
            <a:r>
              <a:rPr lang="en-US" sz="1800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allenamenti</a:t>
            </a:r>
            <a:r>
              <a:rPr lang="en-US" sz="1800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e le model selection, il </a:t>
            </a:r>
            <a:r>
              <a:rPr lang="en-US" sz="1800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modello</a:t>
            </a:r>
            <a:r>
              <a:rPr lang="en-US" sz="1800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che</a:t>
            </a:r>
            <a:r>
              <a:rPr lang="en-US" sz="1800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ha sempre </a:t>
            </a:r>
            <a:r>
              <a:rPr lang="en-US" sz="1800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perfomato</a:t>
            </a:r>
            <a:r>
              <a:rPr lang="en-US" sz="1800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meglio</a:t>
            </a:r>
            <a:r>
              <a:rPr lang="en-US" sz="1800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é </a:t>
            </a:r>
            <a:r>
              <a:rPr lang="en-US" sz="1800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stato</a:t>
            </a:r>
            <a:r>
              <a:rPr lang="en-US" sz="1800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l’SVM</a:t>
            </a:r>
            <a:r>
              <a:rPr lang="en-US" sz="1800" b="1" dirty="0">
                <a:solidFill>
                  <a:schemeClr val="bg1"/>
                </a:solidFill>
                <a:latin typeface="Anantason UltraExpanded Bold"/>
                <a:ea typeface="Anantason UltraExpanded Bold"/>
                <a:cs typeface="Anantason UltraExpanded Bold"/>
                <a:sym typeface="Anantason UltraExpanded Bold"/>
              </a:rPr>
              <a:t>.</a:t>
            </a:r>
          </a:p>
          <a:p>
            <a:endParaRPr lang="it-IT" dirty="0"/>
          </a:p>
        </p:txBody>
      </p:sp>
      <p:pic>
        <p:nvPicPr>
          <p:cNvPr id="26" name="Immagine 25" descr="Immagine che contiene Diagramma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5AC223E0-1F28-BEF0-1D4D-98036784E8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" t="4927" r="2959" b="1543"/>
          <a:stretch/>
        </p:blipFill>
        <p:spPr>
          <a:xfrm>
            <a:off x="4815070" y="5384322"/>
            <a:ext cx="7619531" cy="4478186"/>
          </a:xfrm>
          <a:prstGeom prst="rect">
            <a:avLst/>
          </a:prstGeom>
        </p:spPr>
      </p:pic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8A68AA53-B7E7-23CA-590E-D888CD014C1D}"/>
              </a:ext>
            </a:extLst>
          </p:cNvPr>
          <p:cNvSpPr txBox="1"/>
          <p:nvPr/>
        </p:nvSpPr>
        <p:spPr>
          <a:xfrm rot="1248250" flipH="1">
            <a:off x="2277566" y="4099099"/>
            <a:ext cx="1241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73E8F1A-BB62-6E67-373A-7D3DA6FD2E8F}"/>
              </a:ext>
            </a:extLst>
          </p:cNvPr>
          <p:cNvSpPr txBox="1"/>
          <p:nvPr/>
        </p:nvSpPr>
        <p:spPr>
          <a:xfrm rot="1248250" flipH="1">
            <a:off x="4637240" y="5366743"/>
            <a:ext cx="1241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B12B9392-4E14-5246-DB90-35FB0B088C41}"/>
              </a:ext>
            </a:extLst>
          </p:cNvPr>
          <p:cNvSpPr txBox="1"/>
          <p:nvPr/>
        </p:nvSpPr>
        <p:spPr>
          <a:xfrm rot="1248250" flipH="1">
            <a:off x="11156112" y="4075803"/>
            <a:ext cx="1241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ED7A7A50-DE6B-ABCC-F5CB-B429C697EE4E}"/>
              </a:ext>
            </a:extLst>
          </p:cNvPr>
          <p:cNvSpPr txBox="1"/>
          <p:nvPr/>
        </p:nvSpPr>
        <p:spPr>
          <a:xfrm rot="1248250" flipH="1">
            <a:off x="9463151" y="1331601"/>
            <a:ext cx="1241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7035D022-5039-DD89-63A7-2C8C30E2AA4B}"/>
              </a:ext>
            </a:extLst>
          </p:cNvPr>
          <p:cNvSpPr txBox="1"/>
          <p:nvPr/>
        </p:nvSpPr>
        <p:spPr>
          <a:xfrm rot="1248250" flipH="1">
            <a:off x="675452" y="1226896"/>
            <a:ext cx="1241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A845F49B-5F1D-C4B8-215E-F7A01A83F7AD}"/>
              </a:ext>
            </a:extLst>
          </p:cNvPr>
          <p:cNvSpPr txBox="1"/>
          <p:nvPr/>
        </p:nvSpPr>
        <p:spPr>
          <a:xfrm rot="1248250" flipH="1">
            <a:off x="12060174" y="9657920"/>
            <a:ext cx="1241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71E10EAD-5FF2-514B-CD39-9C63AAAB9630}"/>
              </a:ext>
            </a:extLst>
          </p:cNvPr>
          <p:cNvSpPr txBox="1"/>
          <p:nvPr/>
        </p:nvSpPr>
        <p:spPr>
          <a:xfrm rot="1248250" flipH="1">
            <a:off x="12541712" y="5519233"/>
            <a:ext cx="1241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0DD605DF-E1F1-C8D3-A881-8689A8FBBC6E}"/>
              </a:ext>
            </a:extLst>
          </p:cNvPr>
          <p:cNvSpPr txBox="1"/>
          <p:nvPr/>
        </p:nvSpPr>
        <p:spPr>
          <a:xfrm rot="1248250" flipH="1">
            <a:off x="17099711" y="9447010"/>
            <a:ext cx="1241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2AB5C296-4EE3-BF93-8B30-04416D59D332}"/>
              </a:ext>
            </a:extLst>
          </p:cNvPr>
          <p:cNvSpPr txBox="1"/>
          <p:nvPr/>
        </p:nvSpPr>
        <p:spPr>
          <a:xfrm rot="1248250" flipH="1">
            <a:off x="7805632" y="3815860"/>
            <a:ext cx="1241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B817FBE2-9EBD-BD69-E148-0B49125677C0}"/>
              </a:ext>
            </a:extLst>
          </p:cNvPr>
          <p:cNvSpPr txBox="1"/>
          <p:nvPr/>
        </p:nvSpPr>
        <p:spPr>
          <a:xfrm rot="1248250" flipH="1">
            <a:off x="16423289" y="3849614"/>
            <a:ext cx="1241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1EEFB0CD-4F5B-6C6E-D939-94F527F2529E}"/>
              </a:ext>
            </a:extLst>
          </p:cNvPr>
          <p:cNvSpPr txBox="1"/>
          <p:nvPr/>
        </p:nvSpPr>
        <p:spPr>
          <a:xfrm rot="1248250" flipH="1">
            <a:off x="5876830" y="4540806"/>
            <a:ext cx="1241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DB7D0B9E-4027-C99E-ACA2-BE711E3BC386}"/>
              </a:ext>
            </a:extLst>
          </p:cNvPr>
          <p:cNvSpPr txBox="1"/>
          <p:nvPr/>
        </p:nvSpPr>
        <p:spPr>
          <a:xfrm rot="1248250" flipH="1">
            <a:off x="14508478" y="4540806"/>
            <a:ext cx="1241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b="1" dirty="0">
                <a:solidFill>
                  <a:srgbClr val="78FF87"/>
                </a:solidFill>
                <a:latin typeface="Anantason UltraExpanded Bold"/>
                <a:cs typeface="Anantason UltraExpanded Bold"/>
              </a:rPr>
              <a:t>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701</Words>
  <Application>Microsoft Office PowerPoint</Application>
  <PresentationFormat>Personalizzato</PresentationFormat>
  <Paragraphs>74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6" baseType="lpstr">
      <vt:lpstr>Anantason UltraExpanded</vt:lpstr>
      <vt:lpstr>Anantason UltraExpanded Bold</vt:lpstr>
      <vt:lpstr>Wingdings</vt:lpstr>
      <vt:lpstr>Arial</vt:lpstr>
      <vt:lpstr>Codec Pro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di Artificial Neural Networks Conference</dc:title>
  <dc:creator>Giuseppe Tomarchio</dc:creator>
  <cp:lastModifiedBy>GIUSEPPE TOMARCHIO</cp:lastModifiedBy>
  <cp:revision>4</cp:revision>
  <dcterms:created xsi:type="dcterms:W3CDTF">2006-08-16T00:00:00Z</dcterms:created>
  <dcterms:modified xsi:type="dcterms:W3CDTF">2025-05-03T09:21:19Z</dcterms:modified>
  <dc:identifier>DAGmOTt5itU</dc:identifier>
</cp:coreProperties>
</file>